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9144000" cy="5143500" type="screen16x9"/>
  <p:notesSz cx="6858000" cy="9144000"/>
  <p:embeddedFontLs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Світлий стиль 2 –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Світлий стиль 2 –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1" d="100"/>
          <a:sy n="111" d="100"/>
        </p:scale>
        <p:origin x="16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49" y="821300"/>
            <a:ext cx="4771007" cy="15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uk-UA" sz="3200" dirty="0"/>
              <a:t>Веб-платформа для замовлення 3D-друку моделей</a:t>
            </a:r>
            <a:endParaRPr sz="32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346154" y="3256295"/>
            <a:ext cx="668481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dirty="0"/>
              <a:t>Щука Вікторія Ігорівна</a:t>
            </a:r>
            <a:r>
              <a:rPr lang="uk" sz="1600" dirty="0"/>
              <a:t>, ПЗПІ-23-8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 dirty="0"/>
              <a:t>Керівник:  </a:t>
            </a:r>
            <a:r>
              <a:rPr lang="uk-UA" sz="1600" dirty="0"/>
              <a:t>доц. кафедри ПІ Кравець Наталя Сергіївна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63;p13">
            <a:extLst>
              <a:ext uri="{FF2B5EF4-FFF2-40B4-BE49-F238E27FC236}">
                <a16:creationId xmlns:a16="http://schemas.microsoft.com/office/drawing/2014/main" id="{58646853-E793-99AC-B32D-A8467ACA4FD6}"/>
              </a:ext>
            </a:extLst>
          </p:cNvPr>
          <p:cNvSpPr txBox="1">
            <a:spLocks/>
          </p:cNvSpPr>
          <p:nvPr/>
        </p:nvSpPr>
        <p:spPr>
          <a:xfrm>
            <a:off x="2650266" y="4392252"/>
            <a:ext cx="3843467" cy="60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indent="0"/>
            <a:r>
              <a:rPr lang="en-US" sz="1600" dirty="0"/>
              <a:t>06 </a:t>
            </a:r>
            <a:r>
              <a:rPr lang="uk-UA" sz="1600" dirty="0"/>
              <a:t>червня 2026</a:t>
            </a:r>
          </a:p>
          <a:p>
            <a:pPr marL="0" indent="0"/>
            <a:endParaRPr lang="uk-UA" dirty="0"/>
          </a:p>
          <a:p>
            <a:pPr marL="0" indent="0"/>
            <a:endParaRPr lang="uk-U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uk-UA" sz="1600" b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Мета роботи</a:t>
            </a:r>
          </a:p>
          <a:p>
            <a:pPr marL="114300" indent="0">
              <a:buNone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Розробка веб-платформи для замовлення послуг 3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D-</a:t>
            </a: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друку, яка забезпечує перегляд каталогу моделей, вибір параметрів друку, автоматичний розрахунок вартості та оформлення замовлень через зручний веб-інтерфейс.</a:t>
            </a:r>
          </a:p>
          <a:p>
            <a:pPr marL="114300" indent="0">
              <a:buNone/>
            </a:pPr>
            <a:endParaRPr lang="uk-UA" sz="1600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uk-UA" sz="1600" b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Актуальність роботи</a:t>
            </a:r>
          </a:p>
          <a:p>
            <a:pPr marL="114300" indent="0">
              <a:buNone/>
            </a:pP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Зростання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популярності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технологій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3D-друку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потребує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зручних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цифрових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сервісів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для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вибору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моделей,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налаштування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параметрів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друку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оформлення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замовлень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Розроблена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платформа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дозволяє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автоматизувати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цей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процес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і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зробити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його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доступним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для широкого кола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користувачів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sz="1600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FCBECAAA-2795-BD38-3C2C-3F8FDE691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059760"/>
              </p:ext>
            </p:extLst>
          </p:nvPr>
        </p:nvGraphicFramePr>
        <p:xfrm>
          <a:off x="776896" y="1254770"/>
          <a:ext cx="7383952" cy="22606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1597648162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521763575"/>
                    </a:ext>
                  </a:extLst>
                </a:gridCol>
                <a:gridCol w="2811551">
                  <a:extLst>
                    <a:ext uri="{9D8B030D-6E8A-4147-A177-3AD203B41FA5}">
                      <a16:colId xmlns:a16="http://schemas.microsoft.com/office/drawing/2014/main" val="1825872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Система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Переваги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Виявлені недоліки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20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3D Studio</a:t>
                      </a:r>
                      <a:endParaRPr lang="uk-UA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Автоматичний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розрахунок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вартості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інформація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про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матеріали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та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технології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приклади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робіт</a:t>
                      </a:r>
                      <a:endParaRPr lang="uk-UA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Відсутній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каталог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готових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моделей,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немає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повноцінного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оформлення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замовлення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через сайт</a:t>
                      </a:r>
                      <a:endParaRPr lang="uk-UA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6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Treatstock</a:t>
                      </a:r>
                      <a:endParaRPr lang="uk-UA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Каталог моделей,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вибір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матеріалів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і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технологій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друку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можливість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завантаження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власних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моделей</a:t>
                      </a:r>
                      <a:endParaRPr lang="uk-UA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Складний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інтерфейс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орієнтація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на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досвідчених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користувачів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недостатній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опис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параметрів</a:t>
                      </a:r>
                      <a:r>
                        <a:rPr lang="ru-RU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друку</a:t>
                      </a:r>
                      <a:endParaRPr lang="uk-UA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509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uk-UA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Проблема:</a:t>
            </a:r>
            <a:br>
              <a:rPr lang="uk-UA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uk-UA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Існуючі сервіси 3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D-</a:t>
            </a:r>
            <a:r>
              <a:rPr lang="uk-UA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друку часто не мають каталогу готових моделей, детального опису параметрів друку та зручного механізму оформлення замовлення через веб-інтерфейс.</a:t>
            </a:r>
          </a:p>
          <a:p>
            <a:pPr marL="114300" indent="0">
              <a:buNone/>
            </a:pPr>
            <a:endParaRPr lang="uk-UA" sz="1600" dirty="0">
              <a:solidFill>
                <a:schemeClr val="accent5">
                  <a:lumMod val="50000"/>
                </a:schemeClr>
              </a:solidFill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uk-UA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Очікуваний результат:</a:t>
            </a:r>
            <a:br>
              <a:rPr lang="uk-UA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uk-UA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Розробка веб-платформи, яка забезпечує перегляд каталогу 3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D-</a:t>
            </a:r>
            <a:r>
              <a:rPr lang="uk-UA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моделей, вибір параметрів друку, автоматичний розрахунок вартості, керування кошиком та оформлення замовлень через єдиний зручний інтерфейс.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76CE35-63AB-20B9-7EE6-FE35DFC6A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0050" y="1020835"/>
            <a:ext cx="6017994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Мова програмування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Веб-фреймворк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Django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Система управління базами даних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PostgreSQL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Клієнтська частина: HTML, CSS,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JavaScript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Фреймворк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Bootstrap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для адаптивного інтерфейсу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Середовище розробки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Visual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Studio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Система контролю версій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</p:txBody>
      </p:sp>
      <p:pic>
        <p:nvPicPr>
          <p:cNvPr id="1031" name="Picture 7" descr="Python logo - free Icon PNG, SVG">
            <a:extLst>
              <a:ext uri="{FF2B5EF4-FFF2-40B4-BE49-F238E27FC236}">
                <a16:creationId xmlns:a16="http://schemas.microsoft.com/office/drawing/2014/main" id="{5C3E269F-B19C-F3B9-71C2-A89A7239D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689" y="848421"/>
            <a:ext cx="679569" cy="679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BD00BE36-73C6-8FE3-7F70-66A5AA8FF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4892" y="1720073"/>
            <a:ext cx="1313003" cy="457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Postgresql plain wordmark logo - free Icon PNG, SVG">
            <a:extLst>
              <a:ext uri="{FF2B5EF4-FFF2-40B4-BE49-F238E27FC236}">
                <a16:creationId xmlns:a16="http://schemas.microsoft.com/office/drawing/2014/main" id="{940BC490-008C-0140-FD0B-DA7AF8596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581" y="877483"/>
            <a:ext cx="679569" cy="679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How I Started in Web Development. Around half of the world's population… |  by Karel Moryoussef | Medium">
            <a:extLst>
              <a:ext uri="{FF2B5EF4-FFF2-40B4-BE49-F238E27FC236}">
                <a16:creationId xmlns:a16="http://schemas.microsoft.com/office/drawing/2014/main" id="{7D1BFA6B-DA86-200E-C75C-A71B24C1A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072" y="2233065"/>
            <a:ext cx="2029398" cy="79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 descr="Bootstrap - Free logo icons">
            <a:extLst>
              <a:ext uri="{FF2B5EF4-FFF2-40B4-BE49-F238E27FC236}">
                <a16:creationId xmlns:a16="http://schemas.microsoft.com/office/drawing/2014/main" id="{DE359DE9-3700-CC60-4FDB-92CDABFDA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732" y="3106208"/>
            <a:ext cx="480661" cy="48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9">
            <a:extLst>
              <a:ext uri="{FF2B5EF4-FFF2-40B4-BE49-F238E27FC236}">
                <a16:creationId xmlns:a16="http://schemas.microsoft.com/office/drawing/2014/main" id="{06B6702A-E5B1-296D-8BAA-3A656BEC2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234" y="3095667"/>
            <a:ext cx="480661" cy="48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F8868704-14A3-977D-7AFA-9C94A594C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732" y="3763651"/>
            <a:ext cx="595849" cy="59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 descr="Github Logo - Free social media icons">
            <a:extLst>
              <a:ext uri="{FF2B5EF4-FFF2-40B4-BE49-F238E27FC236}">
                <a16:creationId xmlns:a16="http://schemas.microsoft.com/office/drawing/2014/main" id="{4522C689-EE6B-9115-209A-D9AB50379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404" y="3787139"/>
            <a:ext cx="480661" cy="48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4F7772C-3F2C-690B-9D5A-21BA1461F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Система побудована за клієнт-серверною архітектурою. </a:t>
            </a:r>
          </a:p>
          <a:p>
            <a:pPr marL="114300" indent="0">
              <a:buNone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Клієнтська частина (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HTML, CSS, JavaScript, Bootstrap) </a:t>
            </a: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забезпечує інтерфейс користувача у веб-браузері та взаємодіє з сервером через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HTTP/HTTPS. </a:t>
            </a:r>
            <a:endParaRPr lang="uk-UA" sz="1600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buNone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Серверна частина реалізована на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Python/Django, </a:t>
            </a: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виконує бізнес-логіку, керує замовленнями та розраховує вартість друку. </a:t>
            </a:r>
          </a:p>
          <a:p>
            <a:pPr marL="114300" indent="0">
              <a:buNone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Дані зберігаються в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PostgreSQL, </a:t>
            </a: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доступ до яких здійснюється через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ORM Django.</a:t>
            </a:r>
            <a:endParaRPr lang="uk-UA" sz="1600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buNone/>
            </a:pPr>
            <a:endParaRPr lang="ru-RU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buNone/>
            </a:pP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Основні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модулі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каталог моделей,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кошик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замовлення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обране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авторизація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користувачів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розрахунок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вартості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друку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uk-UA" sz="1600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198024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Розробка виконувалась у середовищі </a:t>
            </a:r>
            <a:r>
              <a:rPr lang="en-US" sz="1600" i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Visual Studio Code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Серверна частина реалізована мовою програмування </a:t>
            </a:r>
            <a:r>
              <a:rPr lang="en-US" sz="1600" i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 використанням фреймворку </a:t>
            </a:r>
            <a:r>
              <a:rPr lang="en-US" sz="1600" i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Django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створення користувацького інтерфейсу використовувалися </a:t>
            </a:r>
            <a:r>
              <a:rPr lang="en-US" sz="1600" i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HTML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i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CSS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 </a:t>
            </a:r>
            <a:r>
              <a:rPr lang="en-US" sz="1600" i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JavaScript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Адаптивний дизайн реалізовано за допомогою фреймворку </a:t>
            </a:r>
            <a:r>
              <a:rPr lang="en-US" sz="1600" i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Bootstrap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зберігання даних використано СУБД </a:t>
            </a:r>
            <a:r>
              <a:rPr lang="en-US" sz="1600" i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PostgreSQL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Контроль версій та зберігання проєкту здійснювалися за допомогою </a:t>
            </a:r>
            <a:r>
              <a:rPr lang="en-US" sz="1600" i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 </a:t>
            </a:r>
            <a:r>
              <a:rPr lang="en-US" sz="1600" i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Процес розробки включав проєктування системи, створення бази даних, реалізацію функціональних модулів та тестування веб-платформи.</a:t>
            </a: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</a:rPr>
              <a:t>Метод розробки: об’єктно-орієнтований підхід.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</a:rPr>
              <a:t>Архітектура: клієнт-серверна архітектура.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</a:rPr>
              <a:t>Послідовність розробки: аналіз вимог → проєктування бази даних → реалізація функціоналу → тестування.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</a:rPr>
              <a:t>Технології проєктування: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UML-</a:t>
            </a:r>
            <a:r>
              <a:rPr lang="uk-UA" sz="1600" dirty="0">
                <a:solidFill>
                  <a:schemeClr val="accent5">
                    <a:lumMod val="50000"/>
                  </a:schemeClr>
                </a:solidFill>
              </a:rPr>
              <a:t>діаграми,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Django ORM, PostgreSQL.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chemeClr val="accent5">
                    <a:lumMod val="50000"/>
                  </a:schemeClr>
                </a:solidFill>
              </a:rPr>
              <a:t>Основні модулі: каталог моделей, кошик, замовлення, обране, система авторизації та розрахунок вартості друку.</a:t>
            </a:r>
            <a:endParaRPr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B44939C-40CA-61DF-18BE-1007C268F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924" y="841901"/>
            <a:ext cx="4554351" cy="33540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Алгоритм автоматичного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розрахунку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вартості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друку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залежно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матеріалу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якості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друку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розміру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моделі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товщини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стінок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відсотка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заповнення</a:t>
            </a:r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uk-UA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FD126E8-33E7-4E7D-AB30-BC0A0ADE9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986" y="2232084"/>
            <a:ext cx="3043386" cy="25717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C979EA9-52DD-AE74-7EA0-6404AB00C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276" y="387792"/>
            <a:ext cx="4096990" cy="4108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5F520C-E4B7-C3BA-CAFA-4BE7FC206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04" y="907526"/>
            <a:ext cx="4854510" cy="272458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CDE8AFE-0CB2-FAA7-786B-B3446FA33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4362" y="124771"/>
            <a:ext cx="3500713" cy="20546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1008C4C-2C22-AB8E-0615-DE49DF49D4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0117" y="2127446"/>
            <a:ext cx="4331538" cy="25683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454555" y="1005500"/>
            <a:ext cx="7073776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Проведено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функціональне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тестування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веб-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платформи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шляхом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перевірки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основних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сценаріїв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використання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системи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. 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Було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протестовано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реєстрацію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та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авторизацію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користувачів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, роботу каталогу моделей,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пошук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і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фільтрацію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додавання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моделей до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кошика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автоматичний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розрахунок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вартості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друку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,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оформлення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замовлень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та роботу списку </a:t>
            </a:r>
            <a:r>
              <a:rPr lang="ru-RU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улюблених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highlight>
                  <a:srgbClr val="FFFFFF"/>
                </a:highlight>
              </a:rPr>
              <a:t> моделей.</a:t>
            </a:r>
            <a:endParaRPr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285750" indent="-285750">
              <a:lnSpc>
                <a:spcPct val="150000"/>
              </a:lnSpc>
              <a:spcAft>
                <a:spcPts val="1200"/>
              </a:spcAft>
            </a:pP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Розроблено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веб-платформу для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замовлення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послуг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3D-друку з каталогом моделей, системою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авторизації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кошиком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автоматичним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розрахунком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вартості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друку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</a:pP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Отримані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результати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є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реалістичними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можуть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бути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використані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для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організації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процесу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прийому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замовлень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на 3D-друк у невеликих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студіях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сервісних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центрах.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</a:pP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Подальший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розвиток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системи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може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включати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інтеграцію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платіжних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сервісів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систему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відстеження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статусу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друку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в реальному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часі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завантаження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користувацьких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3D-моделей та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розширення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каталогу моделей і </a:t>
            </a:r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матеріалів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(1)</Template>
  <TotalTime>633</TotalTime>
  <Words>632</Words>
  <Application>Microsoft Office PowerPoint</Application>
  <PresentationFormat>Екран (16:9)</PresentationFormat>
  <Paragraphs>75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6" baseType="lpstr">
      <vt:lpstr>Arial</vt:lpstr>
      <vt:lpstr>Open Sans</vt:lpstr>
      <vt:lpstr>Economica</vt:lpstr>
      <vt:lpstr>Шаблон презентації кваліфікаційної роботи магістрів</vt:lpstr>
      <vt:lpstr>Веб-платформа для замовлення 3D-друку моделей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Інтерфейс користувача </vt:lpstr>
      <vt:lpstr>Тестування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Вікторія Щука</dc:creator>
  <cp:lastModifiedBy>Вікторія Щука</cp:lastModifiedBy>
  <cp:revision>1</cp:revision>
  <dcterms:created xsi:type="dcterms:W3CDTF">2026-06-09T08:21:40Z</dcterms:created>
  <dcterms:modified xsi:type="dcterms:W3CDTF">2026-06-09T18:55:13Z</dcterms:modified>
</cp:coreProperties>
</file>